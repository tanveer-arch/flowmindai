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</p:sldIdLst>
  <p:sldSz cx="12192000" cy="6858000"/>
  <p:notesSz cx="6858000" cy="9144000"/>
  <p:embeddedFontLst>
    <p:embeddedFont>
      <p:font typeface="Arial Black" panose="020B0A04020102020204" pitchFamily="34" charset="0"/>
      <p:regular r:id="rId10"/>
      <p:bold r:id="rId11"/>
    </p:embeddedFont>
    <p:embeddedFont>
      <p:font typeface="Play" panose="020B0604020202020204" charset="0"/>
      <p:regular r:id="rId12"/>
      <p:bold r:id="rId13"/>
    </p:embeddedFont>
    <p:embeddedFont>
      <p:font typeface="Trebuchet MS" panose="020B060302020202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gNvKVhVjXXL4mASIWq8z67cUii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1C8FF92-5F2F-4074-BEFB-54EC5E7B0A76}">
  <a:tblStyle styleId="{C1C8FF92-5F2F-4074-BEFB-54EC5E7B0A76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A3961A16-C053-0C29-8418-ECEC9858A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BB0023CA-9D09-8F08-FFF2-7C1EE3AACA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545A0084-38F8-661C-1FEF-D8B1AF0C0A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244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0" y="2571810"/>
            <a:ext cx="6853084" cy="350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 Black" panose="020B0A04020102020204" pitchFamily="34" charset="0"/>
                <a:sym typeface="Arial"/>
              </a:rPr>
              <a:t>Team Name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00" b="0" i="0" u="none" strike="noStrike" cap="none" dirty="0" err="1">
                <a:solidFill>
                  <a:srgbClr val="FFC000"/>
                </a:solidFill>
                <a:latin typeface="Arial Black" panose="020B0A04020102020204" pitchFamily="34" charset="0"/>
                <a:sym typeface="Arial"/>
              </a:rPr>
              <a:t>NexaMind</a:t>
            </a:r>
            <a:endParaRPr dirty="0">
              <a:solidFill>
                <a:srgbClr val="FFC000"/>
              </a:solidFill>
              <a:latin typeface="Arial Black" panose="020B0A04020102020204" pitchFamily="34" charset="0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 Black" panose="020B0A04020102020204" pitchFamily="34" charset="0"/>
                <a:sym typeface="Arial"/>
              </a:rPr>
              <a:t>Problem Statement Number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400" b="0" i="0" u="none" strike="noStrike" cap="none" dirty="0">
                <a:solidFill>
                  <a:srgbClr val="FFC000"/>
                </a:solidFill>
                <a:latin typeface="Arial Black" panose="020B0A04020102020204" pitchFamily="34" charset="0"/>
                <a:sym typeface="Arial"/>
              </a:rPr>
              <a:t> 6</a:t>
            </a:r>
            <a:endParaRPr sz="1800" dirty="0">
              <a:solidFill>
                <a:srgbClr val="FFC000"/>
              </a:solidFill>
              <a:latin typeface="Arial Black" panose="020B0A040201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 Black" panose="020B0A04020102020204" pitchFamily="34" charset="0"/>
                <a:sym typeface="Arial"/>
              </a:rPr>
              <a:t>Domain</a:t>
            </a:r>
            <a:r>
              <a:rPr lang="en-US" sz="1800" dirty="0">
                <a:solidFill>
                  <a:schemeClr val="dk1"/>
                </a:solidFill>
              </a:rPr>
              <a:t> : </a:t>
            </a:r>
            <a:r>
              <a:rPr lang="en-US" sz="2400" dirty="0">
                <a:solidFill>
                  <a:srgbClr val="FFC000"/>
                </a:solidFill>
                <a:latin typeface="Arial Black" panose="020B0A04020102020204" pitchFamily="34" charset="0"/>
              </a:rPr>
              <a:t>Agentic AI and Intelligent Workflow Automation using Model Context Protocol (MCP)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 Black" panose="020B0A04020102020204" pitchFamily="34" charset="0"/>
                <a:sym typeface="Arial"/>
              </a:rPr>
              <a:t>Team Lead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00" b="0" i="0" u="none" strike="noStrike" cap="none" dirty="0">
                <a:solidFill>
                  <a:srgbClr val="FFC000"/>
                </a:solidFill>
                <a:latin typeface="Arial Black" panose="020B0A04020102020204" pitchFamily="34" charset="0"/>
                <a:sym typeface="Arial"/>
              </a:rPr>
              <a:t>Tanveer Rajput</a:t>
            </a:r>
            <a:endParaRPr sz="1800" b="0" i="0" u="none" strike="noStrike" cap="none" dirty="0">
              <a:solidFill>
                <a:srgbClr val="FFC000"/>
              </a:solidFill>
              <a:latin typeface="Arial Black" panose="020B0A04020102020204" pitchFamily="34" charset="0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0" y="0"/>
            <a:ext cx="6705603" cy="769441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Tic Tech Toe’26</a:t>
            </a:r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5603" y="0"/>
            <a:ext cx="54864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0" y="-11151"/>
            <a:ext cx="12192000" cy="71092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Description of Idea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52516" y="766148"/>
            <a:ext cx="11965796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3000"/>
            </a:pPr>
            <a:r>
              <a:rPr lang="en-US" sz="2000" b="1" dirty="0">
                <a:solidFill>
                  <a:schemeClr val="tx1"/>
                </a:solidFill>
                <a:latin typeface="Trebuchet MS" panose="020B0603020202020204" pitchFamily="34" charset="0"/>
              </a:rPr>
              <a:t>Proposed Solution : </a:t>
            </a:r>
            <a:r>
              <a:rPr lang="en-US" sz="2000" b="1" u="sng" dirty="0" err="1">
                <a:solidFill>
                  <a:schemeClr val="tx1"/>
                </a:solidFill>
                <a:latin typeface="Trebuchet MS" panose="020B0603020202020204" pitchFamily="34" charset="0"/>
              </a:rPr>
              <a:t>FlowMind</a:t>
            </a:r>
            <a:r>
              <a:rPr lang="en-US" sz="2000" b="1" u="sng" dirty="0">
                <a:solidFill>
                  <a:schemeClr val="tx1"/>
                </a:solidFill>
                <a:latin typeface="Trebuchet MS" panose="020B0603020202020204" pitchFamily="34" charset="0"/>
              </a:rPr>
              <a:t> AI </a:t>
            </a:r>
            <a:r>
              <a:rPr lang="en-US" sz="1800" dirty="0">
                <a:solidFill>
                  <a:schemeClr val="tx1"/>
                </a:solidFill>
                <a:latin typeface="Trebuchet MS" panose="020B0603020202020204" pitchFamily="34" charset="0"/>
              </a:rPr>
              <a:t>a self-evolving Agentic MCP Gateway that leverages LLM-driven planning, contextual memory, and adaptive learning to autonomously orchestrate and optimize cross-platform workflows.</a:t>
            </a:r>
            <a:endParaRPr lang="en-US" sz="1800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682D92D-38D6-25ED-077D-FD15FC172F81}"/>
              </a:ext>
            </a:extLst>
          </p:cNvPr>
          <p:cNvSpPr/>
          <p:nvPr/>
        </p:nvSpPr>
        <p:spPr>
          <a:xfrm>
            <a:off x="8111612" y="1560248"/>
            <a:ext cx="3849383" cy="523423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47EC46-24A1-92C7-B69C-B2580FF68050}"/>
              </a:ext>
            </a:extLst>
          </p:cNvPr>
          <p:cNvSpPr txBox="1"/>
          <p:nvPr/>
        </p:nvSpPr>
        <p:spPr>
          <a:xfrm>
            <a:off x="8219768" y="2130649"/>
            <a:ext cx="397223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End-to-End Workflow</a:t>
            </a:r>
          </a:p>
          <a:p>
            <a:pPr>
              <a:buNone/>
            </a:pPr>
            <a:r>
              <a:rPr lang="en-IN" sz="2000" dirty="0">
                <a:solidFill>
                  <a:schemeClr val="accent1"/>
                </a:solidFill>
              </a:rPr>
              <a:t>User Input (Natural Language)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⬇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AI understands intent (LLM)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⬇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Workflow generated as DAG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⬇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Execution across tools via MCP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⬇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Results stored + feedback collected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⬇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System learns and improves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E3806F-DB10-1320-CEBF-F4AB872D78F9}"/>
              </a:ext>
            </a:extLst>
          </p:cNvPr>
          <p:cNvSpPr txBox="1"/>
          <p:nvPr/>
        </p:nvSpPr>
        <p:spPr>
          <a:xfrm>
            <a:off x="159833" y="1626624"/>
            <a:ext cx="782144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tx1"/>
                </a:solidFill>
                <a:latin typeface="Trebuchet MS" panose="020B0603020202020204" pitchFamily="34" charset="0"/>
              </a:rPr>
              <a:t>----&gt;Core Idea</a:t>
            </a:r>
          </a:p>
          <a:p>
            <a:pPr>
              <a:buNone/>
            </a:pPr>
            <a:r>
              <a:rPr lang="en-IN" sz="1600" dirty="0" err="1">
                <a:solidFill>
                  <a:srgbClr val="0070C0"/>
                </a:solidFill>
                <a:latin typeface="Trebuchet MS" panose="020B0603020202020204" pitchFamily="34" charset="0"/>
              </a:rPr>
              <a:t>FlowMind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AI is an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intelligent orchestration layer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Interprets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natural language → workflows (DAG)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Executes tasks across tools via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MCP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Continuously improves using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feedback-driven learning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</a:p>
          <a:p>
            <a:pPr>
              <a:buNone/>
            </a:pPr>
            <a:r>
              <a:rPr lang="en-IN" sz="1600" b="1" dirty="0">
                <a:solidFill>
                  <a:schemeClr val="tx1"/>
                </a:solidFill>
                <a:latin typeface="Trebuchet MS" panose="020B0603020202020204" pitchFamily="34" charset="0"/>
                <a:sym typeface="Wingdings" panose="05000000000000000000" pitchFamily="2" charset="2"/>
              </a:rPr>
              <a:t>----&gt;</a:t>
            </a:r>
            <a:r>
              <a:rPr lang="en-IN" sz="1600" b="1" dirty="0">
                <a:solidFill>
                  <a:schemeClr val="tx1"/>
                </a:solidFill>
                <a:latin typeface="Trebuchet MS" panose="020B0603020202020204" pitchFamily="34" charset="0"/>
              </a:rPr>
              <a:t> How It Solves the Problem</a:t>
            </a:r>
          </a:p>
          <a:p>
            <a:pPr>
              <a:buNone/>
            </a:pPr>
            <a:r>
              <a:rPr lang="en-IN" sz="1600" b="1" dirty="0">
                <a:solidFill>
                  <a:schemeClr val="tx1"/>
                </a:solidFill>
                <a:latin typeface="Trebuchet MS" panose="020B0603020202020204" pitchFamily="34" charset="0"/>
              </a:rPr>
              <a:t>🔹 Intelligent Workflow Automation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Converts user instructions into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executable steps using LLMs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Automates end-to-end workflows, </a:t>
            </a:r>
            <a:r>
              <a:rPr lang="en-IN" sz="1600" i="1" dirty="0">
                <a:solidFill>
                  <a:srgbClr val="0070C0"/>
                </a:solidFill>
                <a:latin typeface="Trebuchet MS" panose="020B0603020202020204" pitchFamily="34" charset="0"/>
              </a:rPr>
              <a:t>Example: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  <a:r>
              <a:rPr lang="en-IN" sz="1600" dirty="0" err="1">
                <a:solidFill>
                  <a:srgbClr val="0070C0"/>
                </a:solidFill>
                <a:latin typeface="Trebuchet MS" panose="020B0603020202020204" pitchFamily="34" charset="0"/>
              </a:rPr>
              <a:t>Bug→Notify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  <a:r>
              <a:rPr lang="en-IN" sz="1600" dirty="0" err="1">
                <a:solidFill>
                  <a:srgbClr val="0070C0"/>
                </a:solidFill>
                <a:latin typeface="Trebuchet MS" panose="020B0603020202020204" pitchFamily="34" charset="0"/>
              </a:rPr>
              <a:t>team→Update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tracker </a:t>
            </a:r>
          </a:p>
          <a:p>
            <a:pPr>
              <a:buNone/>
            </a:pPr>
            <a:r>
              <a:rPr lang="en-IN" sz="1600" b="1" dirty="0">
                <a:solidFill>
                  <a:schemeClr val="tx1"/>
                </a:solidFill>
                <a:latin typeface="Trebuchet MS" panose="020B0603020202020204" pitchFamily="34" charset="0"/>
              </a:rPr>
              <a:t>🔹 Cross-Platform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Integrates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GitHub, Slack, Google Sheets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Enables seamless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multi-tool automation, 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Eliminates manual coordination </a:t>
            </a:r>
          </a:p>
          <a:p>
            <a:pPr>
              <a:buNone/>
            </a:pPr>
            <a:r>
              <a:rPr lang="en-IN" sz="1600" b="1" dirty="0">
                <a:solidFill>
                  <a:schemeClr val="tx1"/>
                </a:solidFill>
                <a:latin typeface="Trebuchet MS" panose="020B0603020202020204" pitchFamily="34" charset="0"/>
              </a:rPr>
              <a:t>🔹 Self-Learning Optimization (USP)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Stores execution history &amp; feedback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Learns from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failures + user input, 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Optimizes workflow structure &amp; execution </a:t>
            </a:r>
          </a:p>
          <a:p>
            <a:pPr>
              <a:buNone/>
            </a:pPr>
            <a:r>
              <a:rPr lang="en-IN" sz="1600" b="1" dirty="0">
                <a:solidFill>
                  <a:schemeClr val="tx1"/>
                </a:solidFill>
                <a:latin typeface="Trebuchet MS" panose="020B0603020202020204" pitchFamily="34" charset="0"/>
              </a:rPr>
              <a:t>🔹 Context-Aware Intelligence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Adapts based on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user role, priority, workflow state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Ensures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relevant &amp; efficient execution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</a:p>
          <a:p>
            <a:pPr>
              <a:buNone/>
            </a:pPr>
            <a:r>
              <a:rPr lang="en-IN" sz="1600" b="1" dirty="0">
                <a:solidFill>
                  <a:schemeClr val="tx1"/>
                </a:solidFill>
                <a:latin typeface="Trebuchet MS" panose="020B0603020202020204" pitchFamily="34" charset="0"/>
              </a:rPr>
              <a:t>🔹 Explainable &amp; Controlled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Provides reasoning for decisions &amp; failures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Smart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human-in-the-loop approvals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for critical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Objective &amp; Prototype</a:t>
            </a:r>
            <a:endParaRPr dirty="0"/>
          </a:p>
        </p:txBody>
      </p:sp>
      <p:sp>
        <p:nvSpPr>
          <p:cNvPr id="103" name="Google Shape;103;p3"/>
          <p:cNvSpPr txBox="1"/>
          <p:nvPr/>
        </p:nvSpPr>
        <p:spPr>
          <a:xfrm>
            <a:off x="1239223" y="2279682"/>
            <a:ext cx="9969300" cy="15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EC8C51-031C-FA2B-CD0B-31BBB3C5A8D7}"/>
              </a:ext>
            </a:extLst>
          </p:cNvPr>
          <p:cNvSpPr txBox="1"/>
          <p:nvPr/>
        </p:nvSpPr>
        <p:spPr>
          <a:xfrm>
            <a:off x="226143" y="973394"/>
            <a:ext cx="7914968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/>
                </a:solidFill>
                <a:latin typeface="Trebuchet MS" panose="020B0603020202020204" pitchFamily="34" charset="0"/>
              </a:rPr>
              <a:t>🔹</a:t>
            </a:r>
            <a:r>
              <a:rPr lang="en-IN" sz="1600" b="1" dirty="0">
                <a:latin typeface="Trebuchet MS" panose="020B0603020202020204" pitchFamily="34" charset="0"/>
              </a:rPr>
              <a:t> </a:t>
            </a:r>
            <a:r>
              <a:rPr lang="en-IN" sz="1600" b="1" dirty="0">
                <a:solidFill>
                  <a:schemeClr val="tx1"/>
                </a:solidFill>
                <a:latin typeface="Trebuchet MS" panose="020B0603020202020204" pitchFamily="34" charset="0"/>
              </a:rPr>
              <a:t>1. Autonomous Cross-Platform Orchestration</a:t>
            </a:r>
          </a:p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Enable seamless execution of complex workflows across distributed systems using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natural language interfaces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</a:p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Eliminate manual coordination through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unified MCP-based integration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</a:p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----- </a:t>
            </a:r>
            <a:r>
              <a:rPr lang="en-IN" sz="1600" i="1" dirty="0">
                <a:solidFill>
                  <a:srgbClr val="0070C0"/>
                </a:solidFill>
                <a:latin typeface="Trebuchet MS" panose="020B0603020202020204" pitchFamily="34" charset="0"/>
              </a:rPr>
              <a:t>Impact: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Reduces operational latency and eliminates tool fragmentation</a:t>
            </a:r>
          </a:p>
          <a:p>
            <a:r>
              <a:rPr lang="en-IN" sz="1600" b="1" dirty="0">
                <a:latin typeface="Trebuchet MS" panose="020B0603020202020204" pitchFamily="34" charset="0"/>
              </a:rPr>
              <a:t>🔹 2. Agentic AI-Based Workflow Planning</a:t>
            </a:r>
          </a:p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Utilize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LLM-driven reasoning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to dynamically decompose user intent into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structured DAG workflows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</a:p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Support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real-time workflow generation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without predefined rules or templates </a:t>
            </a:r>
          </a:p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----- </a:t>
            </a:r>
            <a:r>
              <a:rPr lang="en-IN" sz="1600" i="1" dirty="0">
                <a:solidFill>
                  <a:srgbClr val="0070C0"/>
                </a:solidFill>
                <a:latin typeface="Trebuchet MS" panose="020B0603020202020204" pitchFamily="34" charset="0"/>
              </a:rPr>
              <a:t>Impact: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Enables scalable, flexible, and intelligent automation</a:t>
            </a:r>
          </a:p>
          <a:p>
            <a:r>
              <a:rPr lang="en-IN" sz="1600" b="1" dirty="0">
                <a:latin typeface="Trebuchet MS" panose="020B0603020202020204" pitchFamily="34" charset="0"/>
              </a:rPr>
              <a:t>🔹 3. Feedback-Driven Self-Learning System (Core Innovation)</a:t>
            </a:r>
          </a:p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Implement a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closed-loop learning architecture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using execution traces </a:t>
            </a:r>
          </a:p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Continuously refine: Workflow structure, Task sequencing, Tool selection strategies </a:t>
            </a:r>
          </a:p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Learn from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failures, retries, and user feedback signals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</a:p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----- </a:t>
            </a:r>
            <a:r>
              <a:rPr lang="en-IN" sz="1600" i="1" dirty="0">
                <a:solidFill>
                  <a:srgbClr val="0070C0"/>
                </a:solidFill>
                <a:latin typeface="Trebuchet MS" panose="020B0603020202020204" pitchFamily="34" charset="0"/>
              </a:rPr>
              <a:t>Impact: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System evolves from static automation →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adaptive intelligent agent</a:t>
            </a:r>
            <a:endParaRPr lang="en-IN" sz="1600" dirty="0">
              <a:solidFill>
                <a:srgbClr val="0070C0"/>
              </a:solidFill>
              <a:latin typeface="Trebuchet MS" panose="020B0603020202020204" pitchFamily="34" charset="0"/>
            </a:endParaRPr>
          </a:p>
          <a:p>
            <a:r>
              <a:rPr lang="en-IN" sz="1600" b="1" dirty="0">
                <a:latin typeface="Trebuchet MS" panose="020B0603020202020204" pitchFamily="34" charset="0"/>
              </a:rPr>
              <a:t>🔹 4. Context-Aware Decision Intelligence</a:t>
            </a:r>
          </a:p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Leverage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contextual memory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(user role, task priority, historical workflows) </a:t>
            </a:r>
          </a:p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Dynamically optimize execution paths based on situational context </a:t>
            </a:r>
          </a:p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----- </a:t>
            </a:r>
            <a:r>
              <a:rPr lang="en-IN" sz="1600" i="1" dirty="0">
                <a:solidFill>
                  <a:srgbClr val="0070C0"/>
                </a:solidFill>
                <a:latin typeface="Trebuchet MS" panose="020B0603020202020204" pitchFamily="34" charset="0"/>
              </a:rPr>
              <a:t>Impact: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Ensures personalized, efficient, and relevant workflow execution</a:t>
            </a:r>
          </a:p>
          <a:p>
            <a:r>
              <a:rPr lang="en-IN" sz="1600" b="1" dirty="0">
                <a:latin typeface="Trebuchet MS" panose="020B0603020202020204" pitchFamily="34" charset="0"/>
              </a:rPr>
              <a:t>🔹 5. Explainability, Control &amp; Trust Layer</a:t>
            </a:r>
          </a:p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Integrate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decision traceability and reasoning outputs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</a:p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Implement </a:t>
            </a: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risk-aware human-in-the-loop gating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for sensitive actions </a:t>
            </a:r>
          </a:p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----- </a:t>
            </a:r>
            <a:r>
              <a:rPr lang="en-IN" sz="1600" i="1" dirty="0">
                <a:solidFill>
                  <a:srgbClr val="0070C0"/>
                </a:solidFill>
                <a:latin typeface="Trebuchet MS" panose="020B0603020202020204" pitchFamily="34" charset="0"/>
              </a:rPr>
              <a:t>Impact: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 Enhances transparency, debuggability, and safe enterprise adoption</a:t>
            </a:r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8F52A3-2CF0-446F-1D07-CCD205A1CD6E}"/>
              </a:ext>
            </a:extLst>
          </p:cNvPr>
          <p:cNvSpPr/>
          <p:nvPr/>
        </p:nvSpPr>
        <p:spPr>
          <a:xfrm>
            <a:off x="8249265" y="1939090"/>
            <a:ext cx="3824746" cy="403947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12AF64-5998-6F6A-97A4-C0C1CC2CBA39}"/>
              </a:ext>
            </a:extLst>
          </p:cNvPr>
          <p:cNvSpPr txBox="1"/>
          <p:nvPr/>
        </p:nvSpPr>
        <p:spPr>
          <a:xfrm>
            <a:off x="8288701" y="2162132"/>
            <a:ext cx="393290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rebuchet MS" panose="020B0603020202020204" pitchFamily="34" charset="0"/>
              </a:rPr>
              <a:t>Prototype Design</a:t>
            </a:r>
          </a:p>
          <a:p>
            <a:r>
              <a:rPr lang="en-IN" sz="1600" b="1" dirty="0">
                <a:latin typeface="Trebuchet MS" panose="020B0603020202020204" pitchFamily="34" charset="0"/>
              </a:rPr>
              <a:t>----- Core Architecture</a:t>
            </a:r>
          </a:p>
          <a:p>
            <a:r>
              <a:rPr lang="en-IN" sz="1600" b="1" dirty="0">
                <a:latin typeface="Trebuchet MS" panose="020B0603020202020204" pitchFamily="34" charset="0"/>
              </a:rPr>
              <a:t>Input Layer:</a:t>
            </a:r>
            <a:r>
              <a:rPr lang="en-IN" sz="1600" dirty="0">
                <a:latin typeface="Trebuchet MS" panose="020B0603020202020204" pitchFamily="34" charset="0"/>
              </a:rPr>
              <a:t> Natural language → intent extraction (LLM) </a:t>
            </a:r>
          </a:p>
          <a:p>
            <a:r>
              <a:rPr lang="en-IN" sz="1600" b="1" dirty="0">
                <a:latin typeface="Trebuchet MS" panose="020B0603020202020204" pitchFamily="34" charset="0"/>
              </a:rPr>
              <a:t>Planner:</a:t>
            </a:r>
            <a:r>
              <a:rPr lang="en-IN" sz="1600" dirty="0">
                <a:latin typeface="Trebuchet MS" panose="020B0603020202020204" pitchFamily="34" charset="0"/>
              </a:rPr>
              <a:t> Generates workflow DAG (task dependencies) </a:t>
            </a:r>
          </a:p>
          <a:p>
            <a:r>
              <a:rPr lang="en-IN" sz="1600" b="1" dirty="0">
                <a:latin typeface="Trebuchet MS" panose="020B0603020202020204" pitchFamily="34" charset="0"/>
              </a:rPr>
              <a:t>MCP Layer:</a:t>
            </a:r>
            <a:r>
              <a:rPr lang="en-IN" sz="1600" dirty="0">
                <a:latin typeface="Trebuchet MS" panose="020B0603020202020204" pitchFamily="34" charset="0"/>
              </a:rPr>
              <a:t> Integrates GitHub, Slack, Sheets APIs </a:t>
            </a:r>
          </a:p>
          <a:p>
            <a:r>
              <a:rPr lang="en-IN" sz="1600" b="1" dirty="0">
                <a:latin typeface="Trebuchet MS" panose="020B0603020202020204" pitchFamily="34" charset="0"/>
              </a:rPr>
              <a:t>Execution Engine:</a:t>
            </a:r>
            <a:r>
              <a:rPr lang="en-IN" sz="1600" dirty="0">
                <a:latin typeface="Trebuchet MS" panose="020B0603020202020204" pitchFamily="34" charset="0"/>
              </a:rPr>
              <a:t> Orchestrates tasks with retry &amp; parallelism </a:t>
            </a:r>
          </a:p>
          <a:p>
            <a:r>
              <a:rPr lang="en-IN" sz="1600" b="1" dirty="0">
                <a:latin typeface="Trebuchet MS" panose="020B0603020202020204" pitchFamily="34" charset="0"/>
              </a:rPr>
              <a:t>Learning Engine:</a:t>
            </a:r>
            <a:r>
              <a:rPr lang="en-IN" sz="1600" dirty="0">
                <a:latin typeface="Trebuchet MS" panose="020B0603020202020204" pitchFamily="34" charset="0"/>
              </a:rPr>
              <a:t> Optimizes workflows using execution history </a:t>
            </a:r>
          </a:p>
          <a:p>
            <a:r>
              <a:rPr lang="en-IN" sz="1600" b="1" dirty="0">
                <a:latin typeface="Trebuchet MS" panose="020B0603020202020204" pitchFamily="34" charset="0"/>
              </a:rPr>
              <a:t>Control Layer:</a:t>
            </a:r>
            <a:r>
              <a:rPr lang="en-IN" sz="1600" dirty="0">
                <a:latin typeface="Trebuchet MS" panose="020B0603020202020204" pitchFamily="34" charset="0"/>
              </a:rPr>
              <a:t> Explainability + approval system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CF3810A2-D314-C31F-FD99-A9F0361B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FBE8E7AB-6913-3991-2B70-F4037AA41F22}"/>
              </a:ext>
            </a:extLst>
          </p:cNvPr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Objective &amp; Prototype</a:t>
            </a:r>
            <a:endParaRPr/>
          </a:p>
        </p:txBody>
      </p:sp>
      <p:sp>
        <p:nvSpPr>
          <p:cNvPr id="103" name="Google Shape;103;p3">
            <a:extLst>
              <a:ext uri="{FF2B5EF4-FFF2-40B4-BE49-F238E27FC236}">
                <a16:creationId xmlns:a16="http://schemas.microsoft.com/office/drawing/2014/main" id="{8966AA7A-F5D4-1556-1FFE-0C96E3AE7353}"/>
              </a:ext>
            </a:extLst>
          </p:cNvPr>
          <p:cNvSpPr txBox="1"/>
          <p:nvPr/>
        </p:nvSpPr>
        <p:spPr>
          <a:xfrm>
            <a:off x="1111404" y="2240353"/>
            <a:ext cx="9969300" cy="15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80D952-E08A-C6DA-DCC3-5C851720C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2940"/>
            <a:ext cx="12192000" cy="607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51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Feasibility</a:t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1454556" y="2519135"/>
            <a:ext cx="92829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B646FF4-C9A1-E0B6-F29B-E18DD5E49D49}"/>
              </a:ext>
            </a:extLst>
          </p:cNvPr>
          <p:cNvSpPr/>
          <p:nvPr/>
        </p:nvSpPr>
        <p:spPr>
          <a:xfrm>
            <a:off x="1231086" y="962787"/>
            <a:ext cx="10343535" cy="547842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7F226D-BC12-2D97-54C7-369164D7EF44}"/>
              </a:ext>
            </a:extLst>
          </p:cNvPr>
          <p:cNvSpPr txBox="1"/>
          <p:nvPr/>
        </p:nvSpPr>
        <p:spPr>
          <a:xfrm>
            <a:off x="1684693" y="1193619"/>
            <a:ext cx="943632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rebuchet MS" panose="020B0603020202020204" pitchFamily="34" charset="0"/>
              </a:rPr>
              <a:t>⚙️ Feasibility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rebuchet MS" panose="020B0603020202020204" pitchFamily="34" charset="0"/>
              </a:rPr>
              <a:t>Technically Viable:</a:t>
            </a:r>
            <a:r>
              <a:rPr lang="en-US" sz="1800" dirty="0">
                <a:latin typeface="Trebuchet MS" panose="020B0603020202020204" pitchFamily="34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Built using </a:t>
            </a:r>
            <a:r>
              <a:rPr lang="en-US" sz="1800" b="1" dirty="0">
                <a:solidFill>
                  <a:srgbClr val="0070C0"/>
                </a:solidFill>
                <a:latin typeface="Trebuchet MS" panose="020B0603020202020204" pitchFamily="34" charset="0"/>
              </a:rPr>
              <a:t>LLM APIs, MCP protocol, and REST-based integrations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; lightweight backend (</a:t>
            </a:r>
            <a:r>
              <a:rPr lang="en-US" sz="1800" b="1" dirty="0" err="1">
                <a:solidFill>
                  <a:srgbClr val="0070C0"/>
                </a:solidFill>
                <a:latin typeface="Trebuchet MS" panose="020B0603020202020204" pitchFamily="34" charset="0"/>
              </a:rPr>
              <a:t>FastAPI</a:t>
            </a:r>
            <a:r>
              <a:rPr lang="en-US" sz="1800" b="1" dirty="0">
                <a:solidFill>
                  <a:srgbClr val="0070C0"/>
                </a:solidFill>
                <a:latin typeface="Trebuchet MS" panose="020B0603020202020204" pitchFamily="34" charset="0"/>
              </a:rPr>
              <a:t> + async execution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) with no heavy data dependency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rebuchet MS" panose="020B0603020202020204" pitchFamily="34" charset="0"/>
              </a:rPr>
              <a:t>Modular Implementation:</a:t>
            </a:r>
            <a:r>
              <a:rPr lang="en-US" sz="1800" dirty="0">
                <a:latin typeface="Trebuchet MS" panose="020B0603020202020204" pitchFamily="34" charset="0"/>
              </a:rPr>
              <a:t> Phase-wise development —</a:t>
            </a:r>
            <a:br>
              <a:rPr lang="en-US" sz="1800" dirty="0">
                <a:latin typeface="Trebuchet MS" panose="020B0603020202020204" pitchFamily="34" charset="0"/>
              </a:rPr>
            </a:br>
            <a:r>
              <a:rPr lang="en-US" sz="1800" b="1" dirty="0">
                <a:solidFill>
                  <a:srgbClr val="0070C0"/>
                </a:solidFill>
                <a:latin typeface="Trebuchet MS" panose="020B0603020202020204" pitchFamily="34" charset="0"/>
              </a:rPr>
              <a:t>Input Parsing → DAG Workflow Generation → MCP Execution → Learning Layer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, enabling fast prototyping and incremental enhancement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rebuchet MS" panose="020B0603020202020204" pitchFamily="34" charset="0"/>
              </a:rPr>
              <a:t>Seamless Integration:</a:t>
            </a:r>
            <a:r>
              <a:rPr lang="en-US" sz="1800" dirty="0">
                <a:latin typeface="Trebuchet MS" panose="020B0603020202020204" pitchFamily="34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Easily connects with platforms like </a:t>
            </a:r>
            <a:r>
              <a:rPr lang="en-US" sz="1800" b="1" dirty="0">
                <a:solidFill>
                  <a:srgbClr val="0070C0"/>
                </a:solidFill>
                <a:latin typeface="Trebuchet MS" panose="020B0603020202020204" pitchFamily="34" charset="0"/>
              </a:rPr>
              <a:t>GitHub, Slack, Google Sheets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 via APIs; MCP ensures </a:t>
            </a:r>
            <a:r>
              <a:rPr lang="en-US" sz="1800" b="1" dirty="0">
                <a:solidFill>
                  <a:srgbClr val="0070C0"/>
                </a:solidFill>
                <a:latin typeface="Trebuchet MS" panose="020B0603020202020204" pitchFamily="34" charset="0"/>
              </a:rPr>
              <a:t>standardized and scalable extensibility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rebuchet MS" panose="020B0603020202020204" pitchFamily="34" charset="0"/>
              </a:rPr>
              <a:t>Scalable Architecture:</a:t>
            </a:r>
            <a:r>
              <a:rPr lang="en-US" sz="1800" dirty="0">
                <a:latin typeface="Trebuchet MS" panose="020B0603020202020204" pitchFamily="34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Supports </a:t>
            </a:r>
            <a:r>
              <a:rPr lang="en-US" sz="1800" b="1" dirty="0">
                <a:solidFill>
                  <a:srgbClr val="0070C0"/>
                </a:solidFill>
                <a:latin typeface="Trebuchet MS" panose="020B0603020202020204" pitchFamily="34" charset="0"/>
              </a:rPr>
              <a:t>parallel execution, microservices-based scaling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, and addition of new tools/services without redesign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rebuchet MS" panose="020B0603020202020204" pitchFamily="34" charset="0"/>
              </a:rPr>
              <a:t>Secure &amp; Controlled:</a:t>
            </a:r>
            <a:r>
              <a:rPr lang="en-US" sz="1800" dirty="0">
                <a:latin typeface="Trebuchet MS" panose="020B0603020202020204" pitchFamily="34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Implements </a:t>
            </a:r>
            <a:r>
              <a:rPr lang="en-US" sz="1800" b="1" dirty="0">
                <a:solidFill>
                  <a:srgbClr val="0070C0"/>
                </a:solidFill>
                <a:latin typeface="Trebuchet MS" panose="020B0603020202020204" pitchFamily="34" charset="0"/>
              </a:rPr>
              <a:t>API authentication, role-based access, and AI-driven human-in-the-loop approvals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 for critical operations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rebuchet MS" panose="020B0603020202020204" pitchFamily="34" charset="0"/>
              </a:rPr>
              <a:t>Cost-Efficient:</a:t>
            </a:r>
            <a:r>
              <a:rPr lang="en-US" sz="1800" dirty="0">
                <a:latin typeface="Trebuchet MS" panose="020B0603020202020204" pitchFamily="34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Uses </a:t>
            </a:r>
            <a:r>
              <a:rPr lang="en-US" sz="1800" b="1" dirty="0">
                <a:solidFill>
                  <a:srgbClr val="0070C0"/>
                </a:solidFill>
                <a:latin typeface="Trebuchet MS" panose="020B0603020202020204" pitchFamily="34" charset="0"/>
              </a:rPr>
              <a:t>open-source tools + pay-as-you-go LLM APIs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, requiring minimal infrastructure for deployment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rebuchet MS" panose="020B0603020202020204" pitchFamily="34" charset="0"/>
              </a:rPr>
              <a:t>Real-World Ready:</a:t>
            </a:r>
            <a:r>
              <a:rPr lang="en-US" sz="1800" dirty="0">
                <a:latin typeface="Trebuchet MS" panose="020B0603020202020204" pitchFamily="34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Applicable across </a:t>
            </a:r>
            <a:r>
              <a:rPr lang="en-US" sz="1800" b="1" dirty="0">
                <a:solidFill>
                  <a:srgbClr val="0070C0"/>
                </a:solidFill>
                <a:latin typeface="Trebuchet MS" panose="020B0603020202020204" pitchFamily="34" charset="0"/>
              </a:rPr>
              <a:t>DevOps, business workflows, and incident management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, delivering reduced manual effort and faster operations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Uniqueness</a:t>
            </a:r>
            <a:endParaRPr/>
          </a:p>
        </p:txBody>
      </p:sp>
      <p:sp>
        <p:nvSpPr>
          <p:cNvPr id="115" name="Google Shape;115;p5"/>
          <p:cNvSpPr txBox="1"/>
          <p:nvPr/>
        </p:nvSpPr>
        <p:spPr>
          <a:xfrm>
            <a:off x="216311" y="1927122"/>
            <a:ext cx="11484694" cy="47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endParaRPr lang="en-IN" sz="1600" b="1" dirty="0">
              <a:latin typeface="Trebuchet MS" panose="020B0603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57726DD-FFAD-B7A1-E823-4B72B838AA92}"/>
              </a:ext>
            </a:extLst>
          </p:cNvPr>
          <p:cNvSpPr/>
          <p:nvPr/>
        </p:nvSpPr>
        <p:spPr>
          <a:xfrm>
            <a:off x="1231086" y="962787"/>
            <a:ext cx="10343535" cy="547842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F2A3B-552C-C002-519E-08FDAA830204}"/>
              </a:ext>
            </a:extLst>
          </p:cNvPr>
          <p:cNvSpPr txBox="1"/>
          <p:nvPr/>
        </p:nvSpPr>
        <p:spPr>
          <a:xfrm>
            <a:off x="1713461" y="1060568"/>
            <a:ext cx="11916697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🔥 </a:t>
            </a:r>
            <a:r>
              <a:rPr lang="en-IN" sz="1600" b="1" dirty="0">
                <a:latin typeface="Trebuchet MS" panose="020B0603020202020204" pitchFamily="34" charset="0"/>
              </a:rPr>
              <a:t>Self-Evolving Workflow Intelligence</a:t>
            </a:r>
          </a:p>
          <a:p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-Implements a </a:t>
            </a:r>
            <a:r>
              <a:rPr lang="en-IN" sz="1600" b="1" dirty="0">
                <a:solidFill>
                  <a:schemeClr val="accent1"/>
                </a:solidFill>
                <a:latin typeface="Trebuchet MS" panose="020B0603020202020204" pitchFamily="34" charset="0"/>
              </a:rPr>
              <a:t>feedback-driven learning loop</a:t>
            </a:r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 over execution traces </a:t>
            </a:r>
          </a:p>
          <a:p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-Continuously refines </a:t>
            </a:r>
            <a:r>
              <a:rPr lang="en-IN" sz="1600" b="1" dirty="0">
                <a:solidFill>
                  <a:schemeClr val="accent1"/>
                </a:solidFill>
                <a:latin typeface="Trebuchet MS" panose="020B0603020202020204" pitchFamily="34" charset="0"/>
              </a:rPr>
              <a:t>workflow DAG structure, sequencing &amp; tool selection</a:t>
            </a:r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 </a:t>
            </a:r>
          </a:p>
          <a:p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-Transitions from static automation → </a:t>
            </a:r>
            <a:r>
              <a:rPr lang="en-IN" sz="1600" b="1" dirty="0">
                <a:solidFill>
                  <a:schemeClr val="accent1"/>
                </a:solidFill>
                <a:latin typeface="Trebuchet MS" panose="020B0603020202020204" pitchFamily="34" charset="0"/>
              </a:rPr>
              <a:t>adaptive autonomous orchestration</a:t>
            </a:r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 </a:t>
            </a:r>
          </a:p>
          <a:p>
            <a:r>
              <a:rPr lang="en-IN" sz="1600" b="1" dirty="0">
                <a:latin typeface="Trebuchet MS" panose="020B0603020202020204" pitchFamily="34" charset="0"/>
              </a:rPr>
              <a:t>🧠 LLM-Driven Agentic Planning</a:t>
            </a:r>
          </a:p>
          <a:p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-Uses </a:t>
            </a:r>
            <a:r>
              <a:rPr lang="en-IN" sz="1600" b="1" dirty="0">
                <a:solidFill>
                  <a:schemeClr val="accent1"/>
                </a:solidFill>
                <a:latin typeface="Trebuchet MS" panose="020B0603020202020204" pitchFamily="34" charset="0"/>
              </a:rPr>
              <a:t>LLM-based reasoning</a:t>
            </a:r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 to convert natural language → executable DAG </a:t>
            </a:r>
          </a:p>
          <a:p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-Enables </a:t>
            </a:r>
            <a:r>
              <a:rPr lang="en-IN" sz="1600" b="1" dirty="0">
                <a:solidFill>
                  <a:schemeClr val="accent1"/>
                </a:solidFill>
                <a:latin typeface="Trebuchet MS" panose="020B0603020202020204" pitchFamily="34" charset="0"/>
              </a:rPr>
              <a:t>dynamic workflow decomposition</a:t>
            </a:r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 without predefined rules </a:t>
            </a:r>
          </a:p>
          <a:p>
            <a:r>
              <a:rPr lang="en-IN" sz="1600" b="1" dirty="0">
                <a:latin typeface="Trebuchet MS" panose="020B0603020202020204" pitchFamily="34" charset="0"/>
              </a:rPr>
              <a:t>⚙️ Context-Aware Decision Engine</a:t>
            </a:r>
          </a:p>
          <a:p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-Leverages </a:t>
            </a:r>
            <a:r>
              <a:rPr lang="en-IN" sz="1600" b="1" dirty="0">
                <a:solidFill>
                  <a:schemeClr val="accent1"/>
                </a:solidFill>
                <a:latin typeface="Trebuchet MS" panose="020B0603020202020204" pitchFamily="34" charset="0"/>
              </a:rPr>
              <a:t>contextual memory (user role, priority, history)</a:t>
            </a:r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 </a:t>
            </a:r>
          </a:p>
          <a:p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-Dynamically adapts execution paths for </a:t>
            </a:r>
            <a:r>
              <a:rPr lang="en-IN" sz="1600" b="1" dirty="0">
                <a:solidFill>
                  <a:schemeClr val="accent1"/>
                </a:solidFill>
                <a:latin typeface="Trebuchet MS" panose="020B0603020202020204" pitchFamily="34" charset="0"/>
              </a:rPr>
              <a:t>optimal efficiency, relevance &amp; situational automation</a:t>
            </a:r>
            <a:r>
              <a:rPr lang="en-IN" sz="1600" dirty="0">
                <a:latin typeface="Trebuchet MS" panose="020B0603020202020204" pitchFamily="34" charset="0"/>
              </a:rPr>
              <a:t> </a:t>
            </a:r>
          </a:p>
          <a:p>
            <a:r>
              <a:rPr lang="en-IN" sz="1600" b="1" dirty="0">
                <a:latin typeface="Trebuchet MS" panose="020B0603020202020204" pitchFamily="34" charset="0"/>
              </a:rPr>
              <a:t>🔍 Explainable AI Layer</a:t>
            </a:r>
          </a:p>
          <a:p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-Integrates </a:t>
            </a:r>
            <a:r>
              <a:rPr lang="en-IN" sz="1600" b="1" dirty="0">
                <a:solidFill>
                  <a:schemeClr val="accent1"/>
                </a:solidFill>
                <a:latin typeface="Trebuchet MS" panose="020B0603020202020204" pitchFamily="34" charset="0"/>
              </a:rPr>
              <a:t>reasoning traces &amp; decision attribution</a:t>
            </a:r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 </a:t>
            </a:r>
          </a:p>
          <a:p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-Provides actionable insights for </a:t>
            </a:r>
            <a:r>
              <a:rPr lang="en-IN" sz="1600" b="1" dirty="0">
                <a:solidFill>
                  <a:schemeClr val="accent1"/>
                </a:solidFill>
                <a:latin typeface="Trebuchet MS" panose="020B0603020202020204" pitchFamily="34" charset="0"/>
              </a:rPr>
              <a:t>failures, step selection &amp; optimization</a:t>
            </a:r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 </a:t>
            </a:r>
          </a:p>
          <a:p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-Enhances </a:t>
            </a:r>
            <a:r>
              <a:rPr lang="en-IN" sz="1600" b="1" dirty="0">
                <a:solidFill>
                  <a:schemeClr val="accent1"/>
                </a:solidFill>
                <a:latin typeface="Trebuchet MS" panose="020B0603020202020204" pitchFamily="34" charset="0"/>
              </a:rPr>
              <a:t>trust, debuggability, and system transparency</a:t>
            </a:r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 </a:t>
            </a:r>
          </a:p>
          <a:p>
            <a:r>
              <a:rPr lang="en-IN" sz="1600" b="1" dirty="0">
                <a:latin typeface="Trebuchet MS" panose="020B0603020202020204" pitchFamily="34" charset="0"/>
              </a:rPr>
              <a:t>👨‍💻 Intelligent Human-in-the-Loop Control</a:t>
            </a:r>
          </a:p>
          <a:p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-AI-driven </a:t>
            </a:r>
            <a:r>
              <a:rPr lang="en-IN" sz="1600" b="1" dirty="0">
                <a:solidFill>
                  <a:schemeClr val="accent1"/>
                </a:solidFill>
                <a:latin typeface="Trebuchet MS" panose="020B0603020202020204" pitchFamily="34" charset="0"/>
              </a:rPr>
              <a:t>risk-aware approval gating</a:t>
            </a:r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 for critical actions </a:t>
            </a:r>
          </a:p>
          <a:p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-Minimizes interruptions while ensuring </a:t>
            </a:r>
            <a:r>
              <a:rPr lang="en-IN" sz="1600" b="1" dirty="0">
                <a:solidFill>
                  <a:schemeClr val="accent1"/>
                </a:solidFill>
                <a:latin typeface="Trebuchet MS" panose="020B0603020202020204" pitchFamily="34" charset="0"/>
              </a:rPr>
              <a:t>secure and controlled execution</a:t>
            </a:r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 </a:t>
            </a:r>
          </a:p>
          <a:p>
            <a:r>
              <a:rPr lang="en-IN" sz="1600" b="1" dirty="0">
                <a:latin typeface="Trebuchet MS" panose="020B0603020202020204" pitchFamily="34" charset="0"/>
              </a:rPr>
              <a:t>🔗 Unified MCP-Oriented Orchestration</a:t>
            </a:r>
          </a:p>
          <a:p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-Standardized integration via </a:t>
            </a:r>
            <a:r>
              <a:rPr lang="en-IN" sz="1600" b="1" dirty="0">
                <a:solidFill>
                  <a:schemeClr val="accent1"/>
                </a:solidFill>
                <a:latin typeface="Trebuchet MS" panose="020B0603020202020204" pitchFamily="34" charset="0"/>
              </a:rPr>
              <a:t>Model Context Protocol (MCP)</a:t>
            </a:r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 </a:t>
            </a:r>
          </a:p>
          <a:p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-Enables seamless </a:t>
            </a:r>
            <a:r>
              <a:rPr lang="en-IN" sz="1600" b="1" dirty="0">
                <a:solidFill>
                  <a:schemeClr val="accent1"/>
                </a:solidFill>
                <a:latin typeface="Trebuchet MS" panose="020B0603020202020204" pitchFamily="34" charset="0"/>
              </a:rPr>
              <a:t>interoperability across heterogeneous services</a:t>
            </a:r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 </a:t>
            </a:r>
          </a:p>
          <a:p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-Eliminates fragmentation in enterprise workflows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F0926B-CADC-ED46-1D87-70E3D2574AB0}"/>
              </a:ext>
            </a:extLst>
          </p:cNvPr>
          <p:cNvSpPr txBox="1"/>
          <p:nvPr/>
        </p:nvSpPr>
        <p:spPr>
          <a:xfrm>
            <a:off x="1713461" y="6481620"/>
            <a:ext cx="117593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i="1" dirty="0">
                <a:solidFill>
                  <a:schemeClr val="accent1"/>
                </a:solidFill>
              </a:rPr>
              <a:t>“Our key innovation is not automation—but evolution. Our system gets smarter with every execution.”</a:t>
            </a:r>
            <a:endParaRPr lang="en-IN" sz="16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0" y="-11151"/>
            <a:ext cx="12192000" cy="794092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Team Member Details</a:t>
            </a:r>
            <a:endParaRPr/>
          </a:p>
        </p:txBody>
      </p:sp>
      <p:graphicFrame>
        <p:nvGraphicFramePr>
          <p:cNvPr id="121" name="Google Shape;121;p6"/>
          <p:cNvGraphicFramePr/>
          <p:nvPr>
            <p:extLst>
              <p:ext uri="{D42A27DB-BD31-4B8C-83A1-F6EECF244321}">
                <p14:modId xmlns:p14="http://schemas.microsoft.com/office/powerpoint/2010/main" val="4142239417"/>
              </p:ext>
            </p:extLst>
          </p:nvPr>
        </p:nvGraphicFramePr>
        <p:xfrm>
          <a:off x="1567986" y="2316480"/>
          <a:ext cx="9056000" cy="3302060"/>
        </p:xfrm>
        <a:graphic>
          <a:graphicData uri="http://schemas.openxmlformats.org/drawingml/2006/table">
            <a:tbl>
              <a:tblPr firstRow="1" bandRow="1">
                <a:noFill/>
                <a:tableStyleId>{C1C8FF92-5F2F-4074-BEFB-54EC5E7B0A76}</a:tableStyleId>
              </a:tblPr>
              <a:tblGrid>
                <a:gridCol w="22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Member Name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Role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Degree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Semester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Tanveer Rajput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Backend Developer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B. Tech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4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Chaitanya </a:t>
                      </a:r>
                      <a:r>
                        <a:rPr lang="en-IN" sz="1800" dirty="0" err="1"/>
                        <a:t>Sarvaiya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Frontend developer 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B. Tech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4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Rajvi Shah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UI/UX designer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B. Tech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4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Taksh Sanghavi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Database handler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B. Tech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4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Aayush Pandya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AI Analyst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B. Tech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4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903</Words>
  <Application>Microsoft Office PowerPoint</Application>
  <PresentationFormat>Widescreen</PresentationFormat>
  <Paragraphs>119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Wingdings</vt:lpstr>
      <vt:lpstr>Play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Harshil Khamar (Cloud &amp; Platform Engineering)</dc:creator>
  <cp:lastModifiedBy>tanveer rajput</cp:lastModifiedBy>
  <cp:revision>2</cp:revision>
  <dcterms:created xsi:type="dcterms:W3CDTF">2025-12-03T17:50:31Z</dcterms:created>
  <dcterms:modified xsi:type="dcterms:W3CDTF">2026-03-31T18:25:51Z</dcterms:modified>
</cp:coreProperties>
</file>